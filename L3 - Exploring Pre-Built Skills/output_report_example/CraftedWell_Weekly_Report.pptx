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146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520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B4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December 16 – 22, 2024</a:t>
            </a:r>
            <a:endParaRPr lang="en-US" sz="2000" dirty="0"/>
          </a:p>
        </p:txBody>
      </p:sp>
      <p:pic>
        <p:nvPicPr>
          <p:cNvPr id="4" name="Image 0" descr="brand-assets/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636" y="4834521"/>
            <a:ext cx="2011680" cy="14748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A2C1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1000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1325880"/>
            <a:ext cx="2603754" cy="1051560"/>
          </a:xfrm>
          <a:prstGeom prst="roundRect">
            <a:avLst>
              <a:gd name="adj" fmla="val 6957"/>
            </a:avLst>
          </a:prstGeom>
          <a:solidFill>
            <a:srgbClr val="F5EDE5"/>
          </a:solidFill>
          <a:ln w="12700">
            <a:solidFill>
              <a:srgbClr val="E5D5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17320"/>
            <a:ext cx="26037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$126,356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7512" y="1965960"/>
            <a:ext cx="2603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7570" y="1325880"/>
            <a:ext cx="2603754" cy="1051560"/>
          </a:xfrm>
          <a:prstGeom prst="roundRect">
            <a:avLst>
              <a:gd name="adj" fmla="val 6957"/>
            </a:avLst>
          </a:prstGeom>
          <a:solidFill>
            <a:srgbClr val="F5EDE5"/>
          </a:solidFill>
          <a:ln w="12700">
            <a:solidFill>
              <a:srgbClr val="E5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7570" y="1417320"/>
            <a:ext cx="26037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$902,019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7570" y="1965960"/>
            <a:ext cx="2603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7628" y="1325880"/>
            <a:ext cx="2603754" cy="1051560"/>
          </a:xfrm>
          <a:prstGeom prst="roundRect">
            <a:avLst>
              <a:gd name="adj" fmla="val 6957"/>
            </a:avLst>
          </a:prstGeom>
          <a:solidFill>
            <a:srgbClr val="F5EDE5"/>
          </a:solidFill>
          <a:ln w="12700">
            <a:solidFill>
              <a:srgbClr val="E5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7628" y="1417320"/>
            <a:ext cx="26037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7.14x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67628" y="1965960"/>
            <a:ext cx="2603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ROAS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7686" y="1325880"/>
            <a:ext cx="2603754" cy="1051560"/>
          </a:xfrm>
          <a:prstGeom prst="roundRect">
            <a:avLst>
              <a:gd name="adj" fmla="val 6957"/>
            </a:avLst>
          </a:prstGeom>
          <a:solidFill>
            <a:srgbClr val="F5EDE5"/>
          </a:solidFill>
          <a:ln w="12700">
            <a:solidFill>
              <a:srgbClr val="E5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7686" y="1417320"/>
            <a:ext cx="26037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17686" y="1965960"/>
            <a:ext cx="26037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110002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is the standout performer — $0.71 CPA and 147.96x ROAS drive $197,958 in weekly profit on almost no spend.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converts efficiently (5.58% CVR vs. 4.5% benchmark, 7.03x ROAS) despite below-benchmark click-through.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Ads is profitable and absorbs the largest paid-media budget (34% of spend), though conversion rate trails benchmark by 0.36pp.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 is the one channel missing both efficiency targets — 1.80x ROAS (below the 4.0x minimum) and $50.54 CPA (above the $50 cap) — worth a closer look at targeting or budget.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534924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Share by Channel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5806440"/>
            <a:ext cx="4193393" cy="457200"/>
          </a:xfrm>
          <a:prstGeom prst="rect">
            <a:avLst/>
          </a:prstGeom>
          <a:solidFill>
            <a:srgbClr val="5A2C1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6318504"/>
            <a:ext cx="41933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38.7%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2617" y="5806440"/>
            <a:ext cx="2838938" cy="457200"/>
          </a:xfrm>
          <a:prstGeom prst="rect">
            <a:avLst/>
          </a:prstGeom>
          <a:solidFill>
            <a:srgbClr val="8B4A24"/>
          </a:solidFill>
          <a:ln/>
        </p:spPr>
      </p:sp>
      <p:sp>
        <p:nvSpPr>
          <p:cNvPr id="22" name="Text 20"/>
          <p:cNvSpPr/>
          <p:nvPr/>
        </p:nvSpPr>
        <p:spPr>
          <a:xfrm>
            <a:off x="4842617" y="6318504"/>
            <a:ext cx="2838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26.2%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36418" y="5806440"/>
            <a:ext cx="2773924" cy="457200"/>
          </a:xfrm>
          <a:prstGeom prst="rect">
            <a:avLst/>
          </a:prstGeom>
          <a:solidFill>
            <a:srgbClr val="C07F43"/>
          </a:solidFill>
          <a:ln/>
        </p:spPr>
      </p:sp>
      <p:sp>
        <p:nvSpPr>
          <p:cNvPr id="24" name="Text 22"/>
          <p:cNvSpPr/>
          <p:nvPr/>
        </p:nvSpPr>
        <p:spPr>
          <a:xfrm>
            <a:off x="7736418" y="6318504"/>
            <a:ext cx="27739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Ads 25.6%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65206" y="5806440"/>
            <a:ext cx="1029386" cy="457200"/>
          </a:xfrm>
          <a:prstGeom prst="rect">
            <a:avLst/>
          </a:prstGeom>
          <a:solidFill>
            <a:srgbClr val="D4A45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65206" y="63185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 9.5%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A2C1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and conversion rate vs. benchmark, by channel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00232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1508760"/>
                <a:gridCol w="1508760"/>
                <a:gridCol w="1508760"/>
                <a:gridCol w="1508760"/>
                <a:gridCol w="1508760"/>
                <a:gridCol w="123444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 Actual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 Benchmark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 Diff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CVR Actual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CVR Benchmark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CVR Diff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+0.30pp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+0.31pp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-0.36pp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-1.76pp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+1.08pp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+0.03pp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+0.19pp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70916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doesn't track impressions, so CTR isn't calculable for that channel.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5166360"/>
            <a:ext cx="11000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under-clicks but over-converts; Facebook over-clicks but under-converts — both remain net-healthy once efficiency is factored 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A2C1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1000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2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ROAS, CPA, and Net Profit vs. target, by channel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00232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645920"/>
                <a:gridCol w="1371600"/>
                <a:gridCol w="1645920"/>
                <a:gridCol w="1645920"/>
                <a:gridCol w="109728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C1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147.96x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Above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Below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$197,958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Positive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5.39x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Above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Below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$89,119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Positive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Above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Below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$102,435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Positive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85C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Below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$50.54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85C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Above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Positive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709160"/>
            <a:ext cx="11000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 is the only channel below both the 4.0x ROAS target and the $50 CPA cap — margin is positive but razor-thin (37.6% of spend for 9.5% of revenue).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2026-08-17T14:41:57Z</dcterms:created>
  <dcterms:modified xsi:type="dcterms:W3CDTF">2026-08-17T14:41:57Z</dcterms:modified>
</cp:coreProperties>
</file>